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A4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1097280"/>
            <a:ext cx="10972800" cy="4389120"/>
          </a:xfrm>
          <a:prstGeom prst="roundRect">
            <a:avLst/>
          </a:prstGeom>
          <a:solidFill>
            <a:srgbClr val="183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2834640"/>
            <a:ext cx="2926080" cy="1005840"/>
          </a:xfrm>
          <a:prstGeom prst="roundRect">
            <a:avLst/>
          </a:prstGeom>
          <a:solidFill>
            <a:srgbClr val="2158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FFFFFF"/>
                </a:solidFill>
              </a:defRPr>
            </a:pPr>
            <a:r>
              <a:t>Tender In</a:t>
            </a:r>
          </a:p>
        </p:txBody>
      </p:sp>
      <p:sp>
        <p:nvSpPr>
          <p:cNvPr id="4" name="Chevron 3"/>
          <p:cNvSpPr/>
          <p:nvPr/>
        </p:nvSpPr>
        <p:spPr>
          <a:xfrm>
            <a:off x="4069080" y="3063240"/>
            <a:ext cx="411480" cy="548640"/>
          </a:xfrm>
          <a:prstGeom prst="chevron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26280" y="2834640"/>
            <a:ext cx="2926080" cy="1005840"/>
          </a:xfrm>
          <a:prstGeom prst="roundRect">
            <a:avLst/>
          </a:prstGeom>
          <a:solidFill>
            <a:srgbClr val="149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FFFFFF"/>
                </a:solidFill>
              </a:defRPr>
            </a:pPr>
            <a:r>
              <a:t>Stock Acquisition</a:t>
            </a:r>
          </a:p>
        </p:txBody>
      </p:sp>
      <p:sp>
        <p:nvSpPr>
          <p:cNvPr id="6" name="Chevron 5"/>
          <p:cNvSpPr/>
          <p:nvPr/>
        </p:nvSpPr>
        <p:spPr>
          <a:xfrm>
            <a:off x="7498079" y="3063240"/>
            <a:ext cx="411480" cy="548640"/>
          </a:xfrm>
          <a:prstGeom prst="chevron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01000" y="2834640"/>
            <a:ext cx="2926080" cy="1005840"/>
          </a:xfrm>
          <a:prstGeom prst="roundRect">
            <a:avLst/>
          </a:prstGeom>
          <a:solidFill>
            <a:srgbClr val="DE7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FFFFFF"/>
                </a:solidFill>
              </a:defRPr>
            </a:pPr>
            <a:r>
              <a:t>Stock Issuance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508760"/>
            <a:ext cx="106984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Inventory Management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31720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CFDCEE"/>
                </a:solidFill>
              </a:defRPr>
            </a:pPr>
            <a:r>
              <a:t>Client Workflow Presentation - Visual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22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778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System Workflow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0515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CFDCEE"/>
                </a:solidFill>
              </a:defRPr>
            </a:pPr>
            <a:r>
              <a:t>Simple business flow used in operations and client reporting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56616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8EF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3566160" cy="594360"/>
          </a:xfrm>
          <a:prstGeom prst="rect">
            <a:avLst/>
          </a:prstGeom>
          <a:solidFill>
            <a:srgbClr val="2158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38528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1. Tender 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06040"/>
            <a:ext cx="32004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F252E"/>
                </a:solidFill>
              </a:defRPr>
            </a:pPr>
            <a:r>
              <a:t>Create tender and finalize vendor path</a:t>
            </a:r>
          </a:p>
        </p:txBody>
      </p:sp>
      <p:sp>
        <p:nvSpPr>
          <p:cNvPr id="9" name="Chevron 8"/>
          <p:cNvSpPr/>
          <p:nvPr/>
        </p:nvSpPr>
        <p:spPr>
          <a:xfrm>
            <a:off x="4343400" y="3154680"/>
            <a:ext cx="502920" cy="685800"/>
          </a:xfrm>
          <a:prstGeom prst="chevron">
            <a:avLst/>
          </a:prstGeom>
          <a:solidFill>
            <a:srgbClr val="122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297680" y="1828800"/>
            <a:ext cx="356616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8EF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828800"/>
            <a:ext cx="3566160" cy="594360"/>
          </a:xfrm>
          <a:prstGeom prst="rect">
            <a:avLst/>
          </a:prstGeom>
          <a:solidFill>
            <a:srgbClr val="149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1938528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2. Stock Acquisition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606040"/>
            <a:ext cx="32004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F252E"/>
                </a:solidFill>
              </a:defRPr>
            </a:pPr>
            <a:r>
              <a:t>Receive delivery and post stock in</a:t>
            </a:r>
          </a:p>
        </p:txBody>
      </p:sp>
      <p:sp>
        <p:nvSpPr>
          <p:cNvPr id="14" name="Chevron 13"/>
          <p:cNvSpPr/>
          <p:nvPr/>
        </p:nvSpPr>
        <p:spPr>
          <a:xfrm>
            <a:off x="7909560" y="3154680"/>
            <a:ext cx="502920" cy="685800"/>
          </a:xfrm>
          <a:prstGeom prst="chevron">
            <a:avLst/>
          </a:prstGeom>
          <a:solidFill>
            <a:srgbClr val="122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863840" y="1828800"/>
            <a:ext cx="356616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8EF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863840" y="1828800"/>
            <a:ext cx="3566160" cy="594360"/>
          </a:xfrm>
          <a:prstGeom prst="rect">
            <a:avLst/>
          </a:prstGeom>
          <a:solidFill>
            <a:srgbClr val="DE7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01000" y="1938528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3. Stock Issuance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19" y="2606040"/>
            <a:ext cx="32004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F252E"/>
                </a:solidFill>
              </a:defRPr>
            </a:pPr>
            <a:r>
              <a:t>Approve requests and issue stock out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0"/>
            <a:ext cx="12188952" cy="2834640"/>
          </a:xfrm>
          <a:prstGeom prst="rect">
            <a:avLst/>
          </a:prstGeom>
          <a:solidFill>
            <a:srgbClr val="122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69748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Step 1: Tender 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2044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>
                <a:solidFill>
                  <a:srgbClr val="CDD9EC"/>
                </a:solidFill>
              </a:defRPr>
            </a:pPr>
            <a:r>
              <a:t>Where every inventory cycle starts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22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778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Tender Creation and Finalization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34440"/>
            <a:ext cx="7635240" cy="5257800"/>
          </a:xfrm>
          <a:prstGeom prst="roundRect">
            <a:avLst/>
          </a:prstGeom>
          <a:solidFill>
            <a:srgbClr val="FFFFFF"/>
          </a:solidFill>
          <a:ln>
            <a:solidFill>
              <a:srgbClr val="E8EF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412480" y="1234440"/>
            <a:ext cx="3291840" cy="5257800"/>
          </a:xfrm>
          <a:prstGeom prst="roundRect">
            <a:avLst/>
          </a:prstGeom>
          <a:solidFill>
            <a:srgbClr val="EEF4FC"/>
          </a:solidFill>
          <a:ln>
            <a:solidFill>
              <a:srgbClr val="E8EF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41080" y="1508760"/>
            <a:ext cx="2880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2A4C"/>
                </a:solidFill>
              </a:defRPr>
            </a:pPr>
            <a:r>
              <a:t>Client Message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41080" y="1965960"/>
            <a:ext cx="288036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252E"/>
                </a:solidFill>
              </a:defRPr>
            </a:pPr>
            <a:r>
              <a:t>This stage ensures demand is formally approved before stock movement starts.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1645920"/>
            <a:ext cx="68122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215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1792224"/>
            <a:ext cx="512064" cy="512064"/>
          </a:xfrm>
          <a:prstGeom prst="ellipse">
            <a:avLst/>
          </a:prstGeom>
          <a:solidFill>
            <a:srgbClr val="2158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828800"/>
            <a:ext cx="5943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F252E"/>
                </a:solidFill>
              </a:defRPr>
            </a:pPr>
            <a:r>
              <a:t>Create tender with required items and quantities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3840480" y="2487168"/>
            <a:ext cx="365760" cy="256032"/>
          </a:xfrm>
          <a:prstGeom prst="downArrow">
            <a:avLst/>
          </a:prstGeom>
          <a:solidFill>
            <a:srgbClr val="2158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68680" y="2651760"/>
            <a:ext cx="68122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215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60120" y="2798064"/>
            <a:ext cx="512064" cy="512064"/>
          </a:xfrm>
          <a:prstGeom prst="ellipse">
            <a:avLst/>
          </a:prstGeom>
          <a:solidFill>
            <a:srgbClr val="2158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2834640"/>
            <a:ext cx="5943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F252E"/>
                </a:solidFill>
              </a:defRPr>
            </a:pPr>
            <a:r>
              <a:t>Engage vendors and evaluate responses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3840480" y="3493008"/>
            <a:ext cx="365760" cy="256032"/>
          </a:xfrm>
          <a:prstGeom prst="downArrow">
            <a:avLst/>
          </a:prstGeom>
          <a:solidFill>
            <a:srgbClr val="2158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68680" y="3657600"/>
            <a:ext cx="68122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215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60120" y="3803904"/>
            <a:ext cx="512064" cy="512064"/>
          </a:xfrm>
          <a:prstGeom prst="ellipse">
            <a:avLst/>
          </a:prstGeom>
          <a:solidFill>
            <a:srgbClr val="2158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3840480"/>
            <a:ext cx="5943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F252E"/>
                </a:solidFill>
              </a:defRPr>
            </a:pPr>
            <a:r>
              <a:t>Finalize tender and prepare PO path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0"/>
            <a:ext cx="12188952" cy="2834640"/>
          </a:xfrm>
          <a:prstGeom prst="rect">
            <a:avLst/>
          </a:prstGeom>
          <a:solidFill>
            <a:srgbClr val="122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69748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Step 2: Stock Acquisition (Stock In)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2044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>
                <a:solidFill>
                  <a:srgbClr val="CDD9EC"/>
                </a:solidFill>
              </a:defRPr>
            </a:pPr>
            <a:r>
              <a:t>Convert approved procurement into available inventory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22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778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Delivery Receiving and Stock Posting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34440"/>
            <a:ext cx="7635240" cy="5257800"/>
          </a:xfrm>
          <a:prstGeom prst="roundRect">
            <a:avLst/>
          </a:prstGeom>
          <a:solidFill>
            <a:srgbClr val="FFFFFF"/>
          </a:solidFill>
          <a:ln>
            <a:solidFill>
              <a:srgbClr val="E8EF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412480" y="1234440"/>
            <a:ext cx="3291840" cy="5257800"/>
          </a:xfrm>
          <a:prstGeom prst="roundRect">
            <a:avLst/>
          </a:prstGeom>
          <a:solidFill>
            <a:srgbClr val="EEF4FC"/>
          </a:solidFill>
          <a:ln>
            <a:solidFill>
              <a:srgbClr val="E8EF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41080" y="1508760"/>
            <a:ext cx="2880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2A4C"/>
                </a:solidFill>
              </a:defRPr>
            </a:pPr>
            <a:r>
              <a:t>Client Message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41080" y="1965960"/>
            <a:ext cx="288036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252E"/>
                </a:solidFill>
              </a:defRPr>
            </a:pPr>
            <a:r>
              <a:t>This stage is completed and tested end-to-end with Admin team entries.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1645920"/>
            <a:ext cx="68122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1490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1792224"/>
            <a:ext cx="512064" cy="512064"/>
          </a:xfrm>
          <a:prstGeom prst="ellipse">
            <a:avLst/>
          </a:prstGeom>
          <a:solidFill>
            <a:srgbClr val="149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828800"/>
            <a:ext cx="5943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F252E"/>
                </a:solidFill>
              </a:defRPr>
            </a:pPr>
            <a:r>
              <a:t>Receive delivery against purchase order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3840480" y="2487168"/>
            <a:ext cx="365760" cy="256032"/>
          </a:xfrm>
          <a:prstGeom prst="downArrow">
            <a:avLst/>
          </a:prstGeom>
          <a:solidFill>
            <a:srgbClr val="149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68680" y="2651760"/>
            <a:ext cx="68122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1490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60120" y="2798064"/>
            <a:ext cx="512064" cy="512064"/>
          </a:xfrm>
          <a:prstGeom prst="ellipse">
            <a:avLst/>
          </a:prstGeom>
          <a:solidFill>
            <a:srgbClr val="149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2834640"/>
            <a:ext cx="5943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F252E"/>
                </a:solidFill>
              </a:defRPr>
            </a:pPr>
            <a:r>
              <a:t>Validate quantity and quality during receiving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3840480" y="3493008"/>
            <a:ext cx="365760" cy="256032"/>
          </a:xfrm>
          <a:prstGeom prst="downArrow">
            <a:avLst/>
          </a:prstGeom>
          <a:solidFill>
            <a:srgbClr val="149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68680" y="3657600"/>
            <a:ext cx="68122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1490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60120" y="3803904"/>
            <a:ext cx="512064" cy="512064"/>
          </a:xfrm>
          <a:prstGeom prst="ellipse">
            <a:avLst/>
          </a:prstGeom>
          <a:solidFill>
            <a:srgbClr val="149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3840480"/>
            <a:ext cx="5943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F252E"/>
                </a:solidFill>
              </a:defRPr>
            </a:pPr>
            <a:r>
              <a:t>Create stock acquisition and update inventory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0"/>
            <a:ext cx="12188952" cy="2834640"/>
          </a:xfrm>
          <a:prstGeom prst="rect">
            <a:avLst/>
          </a:prstGeom>
          <a:solidFill>
            <a:srgbClr val="122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69748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Step 3: Stock Issuance (Stock Out)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2044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>
                <a:solidFill>
                  <a:srgbClr val="CDD9EC"/>
                </a:solidFill>
              </a:defRPr>
            </a:pPr>
            <a:r>
              <a:t>Release inventory to requesting users or wings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22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778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Issuance Flow (Next Active Step)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34440"/>
            <a:ext cx="7635240" cy="5257800"/>
          </a:xfrm>
          <a:prstGeom prst="roundRect">
            <a:avLst/>
          </a:prstGeom>
          <a:solidFill>
            <a:srgbClr val="FFFFFF"/>
          </a:solidFill>
          <a:ln>
            <a:solidFill>
              <a:srgbClr val="E8EF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412480" y="1234440"/>
            <a:ext cx="3291840" cy="5257800"/>
          </a:xfrm>
          <a:prstGeom prst="roundRect">
            <a:avLst/>
          </a:prstGeom>
          <a:solidFill>
            <a:srgbClr val="EEF4FC"/>
          </a:solidFill>
          <a:ln>
            <a:solidFill>
              <a:srgbClr val="E8EF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41080" y="1508760"/>
            <a:ext cx="2880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2A4C"/>
                </a:solidFill>
              </a:defRPr>
            </a:pPr>
            <a:r>
              <a:t>Client Message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41080" y="1965960"/>
            <a:ext cx="288036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252E"/>
                </a:solidFill>
              </a:defRPr>
            </a:pPr>
            <a:r>
              <a:t>Stock out is the next execution step currently in progress.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1645920"/>
            <a:ext cx="68122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E7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1792224"/>
            <a:ext cx="512064" cy="512064"/>
          </a:xfrm>
          <a:prstGeom prst="ellipse">
            <a:avLst/>
          </a:prstGeom>
          <a:solidFill>
            <a:srgbClr val="DE7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828800"/>
            <a:ext cx="5943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F252E"/>
                </a:solidFill>
              </a:defRPr>
            </a:pPr>
            <a:r>
              <a:t>User raises stock request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3840480" y="2487168"/>
            <a:ext cx="365760" cy="256032"/>
          </a:xfrm>
          <a:prstGeom prst="downArrow">
            <a:avLst/>
          </a:prstGeom>
          <a:solidFill>
            <a:srgbClr val="DE7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68680" y="2651760"/>
            <a:ext cx="68122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E7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60120" y="2798064"/>
            <a:ext cx="512064" cy="512064"/>
          </a:xfrm>
          <a:prstGeom prst="ellipse">
            <a:avLst/>
          </a:prstGeom>
          <a:solidFill>
            <a:srgbClr val="DE7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2834640"/>
            <a:ext cx="5943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F252E"/>
                </a:solidFill>
              </a:defRPr>
            </a:pPr>
            <a:r>
              <a:t>Approval flow confirms request eligibility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3840480" y="3493008"/>
            <a:ext cx="365760" cy="256032"/>
          </a:xfrm>
          <a:prstGeom prst="downArrow">
            <a:avLst/>
          </a:prstGeom>
          <a:solidFill>
            <a:srgbClr val="DE7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68680" y="3657600"/>
            <a:ext cx="68122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E7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60120" y="3803904"/>
            <a:ext cx="512064" cy="512064"/>
          </a:xfrm>
          <a:prstGeom prst="ellipse">
            <a:avLst/>
          </a:prstGeom>
          <a:solidFill>
            <a:srgbClr val="DE7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3840480"/>
            <a:ext cx="5943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F252E"/>
                </a:solidFill>
              </a:defRPr>
            </a:pPr>
            <a:r>
              <a:t>Approved quantity is issued and deducted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22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778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Current Delivery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0515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CFDCEE"/>
                </a:solidFill>
              </a:defRPr>
            </a:pPr>
            <a:r>
              <a:t>What is completed with Admin team and what is next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10698480" cy="914400"/>
          </a:xfrm>
          <a:prstGeom prst="roundRect">
            <a:avLst/>
          </a:prstGeom>
          <a:solidFill>
            <a:srgbClr val="DFE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474720" cy="914400"/>
          </a:xfrm>
          <a:prstGeom prst="roundRect">
            <a:avLst/>
          </a:prstGeom>
          <a:solidFill>
            <a:srgbClr val="2158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60520" y="1737360"/>
            <a:ext cx="3474720" cy="914400"/>
          </a:xfrm>
          <a:prstGeom prst="rect">
            <a:avLst/>
          </a:prstGeom>
          <a:solidFill>
            <a:srgbClr val="149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589520" y="1737360"/>
            <a:ext cx="3840480" cy="914400"/>
          </a:xfrm>
          <a:prstGeom prst="roundRect">
            <a:avLst/>
          </a:prstGeom>
          <a:solidFill>
            <a:srgbClr val="EE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37360" y="201168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Tender 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66360" y="201168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Stock 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0" y="201168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F252E"/>
                </a:solidFill>
              </a:defRPr>
            </a:pPr>
            <a:r>
              <a:t>Stock Out (Next)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154680"/>
            <a:ext cx="525780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E8EF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3154680"/>
            <a:ext cx="5257800" cy="502920"/>
          </a:xfrm>
          <a:prstGeom prst="rect">
            <a:avLst/>
          </a:prstGeom>
          <a:solidFill>
            <a:srgbClr val="2E8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273552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Completed with Admin Team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794760"/>
            <a:ext cx="484632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F252E"/>
                </a:solidFill>
              </a:defRPr>
            </a:pPr>
            <a:r>
              <a:t>- Tender entries created and validated</a:t>
            </a:r>
          </a:p>
          <a:p>
            <a:pPr>
              <a:defRPr sz="1400">
                <a:solidFill>
                  <a:srgbClr val="1F252E"/>
                </a:solidFill>
              </a:defRPr>
            </a:pPr>
            <a:r>
              <a:t>- Delivery receiving tested</a:t>
            </a:r>
          </a:p>
          <a:p>
            <a:pPr>
              <a:defRPr sz="1400">
                <a:solidFill>
                  <a:srgbClr val="1F252E"/>
                </a:solidFill>
              </a:defRPr>
            </a:pPr>
            <a:r>
              <a:t>- Stock acquisition records generated</a:t>
            </a:r>
          </a:p>
          <a:p>
            <a:pPr>
              <a:defRPr sz="1400">
                <a:solidFill>
                  <a:srgbClr val="1F252E"/>
                </a:solidFill>
              </a:defRPr>
            </a:pPr>
            <a:r>
              <a:t>- Inventory updates confirmed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154680"/>
            <a:ext cx="525780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E8EF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3154680"/>
            <a:ext cx="5257800" cy="502920"/>
          </a:xfrm>
          <a:prstGeom prst="rect">
            <a:avLst/>
          </a:prstGeom>
          <a:solidFill>
            <a:srgbClr val="DE7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3273552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In Progress / Next Step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794760"/>
            <a:ext cx="484632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F252E"/>
                </a:solidFill>
              </a:defRPr>
            </a:pPr>
            <a:r>
              <a:t>- Stock issuance (stock out) execution</a:t>
            </a:r>
          </a:p>
          <a:p>
            <a:pPr>
              <a:defRPr sz="1400">
                <a:solidFill>
                  <a:srgbClr val="1F252E"/>
                </a:solidFill>
              </a:defRPr>
            </a:pPr>
            <a:r>
              <a:t>- Approval and dispatch sequence</a:t>
            </a:r>
          </a:p>
          <a:p>
            <a:pPr>
              <a:defRPr sz="1400">
                <a:solidFill>
                  <a:srgbClr val="1F252E"/>
                </a:solidFill>
              </a:defRPr>
            </a:pPr>
            <a:r>
              <a:t>- Final operational handover</a:t>
            </a:r>
          </a:p>
          <a:p>
            <a:pPr>
              <a:defRPr sz="1400">
                <a:solidFill>
                  <a:srgbClr val="1F252E"/>
                </a:solidFill>
              </a:defRPr>
            </a:pPr>
            <a:r>
              <a:t>- Client acceptance walkthrough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A4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55448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IMS Workflow 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651760"/>
            <a:ext cx="10149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CEDEF5"/>
                </a:solidFill>
              </a:defRPr>
            </a:pPr>
            <a:r>
              <a:t>Tender In  -&gt;  Stock In  -&gt;  Stock 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931920"/>
            <a:ext cx="8503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Tender to Stock In is validated with Admin test entries.</a:t>
            </a:r>
            <a:br/>
            <a:r>
              <a:t>Stock Out is the active next delivery step.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